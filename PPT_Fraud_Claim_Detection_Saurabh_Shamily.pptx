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2" r:id="rId5"/>
    <p:sldId id="310" r:id="rId6"/>
    <p:sldId id="311" r:id="rId7"/>
    <p:sldId id="312" r:id="rId8"/>
    <p:sldId id="314" r:id="rId9"/>
    <p:sldId id="315" r:id="rId10"/>
    <p:sldId id="316" r:id="rId11"/>
    <p:sldId id="317" r:id="rId12"/>
    <p:sldId id="318" r:id="rId13"/>
    <p:sldId id="320" r:id="rId14"/>
    <p:sldId id="321" r:id="rId15"/>
    <p:sldId id="322" r:id="rId16"/>
    <p:sldId id="323" r:id="rId17"/>
    <p:sldId id="324" r:id="rId18"/>
    <p:sldId id="325" r:id="rId19"/>
    <p:sldId id="326" r:id="rId20"/>
    <p:sldId id="327" r:id="rId21"/>
    <p:sldId id="328" r:id="rId22"/>
    <p:sldId id="329" r:id="rId23"/>
    <p:sldId id="330" r:id="rId24"/>
    <p:sldId id="331" r:id="rId25"/>
    <p:sldId id="332" r:id="rId26"/>
    <p:sldId id="333" r:id="rId27"/>
    <p:sldId id="334" r:id="rId28"/>
    <p:sldId id="33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2415" autoAdjust="0"/>
  </p:normalViewPr>
  <p:slideViewPr>
    <p:cSldViewPr snapToGrid="0">
      <p:cViewPr varScale="1">
        <p:scale>
          <a:sx n="79" d="100"/>
          <a:sy n="79" d="100"/>
        </p:scale>
        <p:origin x="75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4/30/2025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95775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7031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4/30/2025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499058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29095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4/30/2025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545147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4/30/2025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381700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4/30/2025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969161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4/30/2025</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007531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4/30/2025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8808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4/30/2025</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164094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3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20000"/>
        </a:lnSpc>
        <a:spcBef>
          <a:spcPts val="900"/>
        </a:spcBef>
        <a:spcAft>
          <a:spcPts val="0"/>
        </a:spcAft>
        <a:buClr>
          <a:schemeClr val="tx1">
            <a:lumMod val="85000"/>
            <a:lumOff val="15000"/>
          </a:schemeClr>
        </a:buClr>
        <a:buFont typeface="Garamond" pitchFamily="18" charset="0"/>
        <a:buChar char="◦"/>
        <a:defRPr sz="14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BA1780-A246-4C7F-9267-727EF2F4E785}"/>
              </a:ext>
              <a:ext uri="{C183D7F6-B498-43B3-948B-1728B52AA6E4}">
                <adec:decorative xmlns:adec="http://schemas.microsoft.com/office/drawing/2017/decorative" val="1"/>
              </a:ext>
            </a:extLst>
          </p:cNvPr>
          <p:cNvPicPr>
            <a:picLocks noChangeAspect="1"/>
          </p:cNvPicPr>
          <p:nvPr/>
        </p:nvPicPr>
        <p:blipFill rotWithShape="1">
          <a:blip r:embed="rId3"/>
          <a:srcRect t="3846"/>
          <a:stretch/>
        </p:blipFill>
        <p:spPr>
          <a:xfrm>
            <a:off x="20" y="10"/>
            <a:ext cx="12191979" cy="6857990"/>
          </a:xfrm>
          <a:prstGeom prst="rect">
            <a:avLst/>
          </a:prstGeom>
        </p:spPr>
      </p:pic>
      <p:sp>
        <p:nvSpPr>
          <p:cNvPr id="19" name="Rectangle 1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329"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21" name="Rectangle 2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3272"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C0D7398C-75E5-4CB0-BA4F-D7D5CF2495D4}"/>
              </a:ext>
            </a:extLst>
          </p:cNvPr>
          <p:cNvSpPr>
            <a:spLocks noGrp="1"/>
          </p:cNvSpPr>
          <p:nvPr>
            <p:ph type="ctrTitle"/>
          </p:nvPr>
        </p:nvSpPr>
        <p:spPr>
          <a:xfrm>
            <a:off x="1276055" y="2350017"/>
            <a:ext cx="4775075" cy="1415648"/>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Fraudulent Claim Detection</a:t>
            </a:r>
          </a:p>
        </p:txBody>
      </p:sp>
      <p:sp>
        <p:nvSpPr>
          <p:cNvPr id="3" name="Subtitle 2">
            <a:extLst>
              <a:ext uri="{FF2B5EF4-FFF2-40B4-BE49-F238E27FC236}">
                <a16:creationId xmlns:a16="http://schemas.microsoft.com/office/drawing/2014/main" id="{5C5BFB45-FC34-495C-9C68-F9641246C2EE}"/>
              </a:ext>
            </a:extLst>
          </p:cNvPr>
          <p:cNvSpPr>
            <a:spLocks noGrp="1"/>
          </p:cNvSpPr>
          <p:nvPr>
            <p:ph type="subTitle" idx="1"/>
          </p:nvPr>
        </p:nvSpPr>
        <p:spPr>
          <a:xfrm>
            <a:off x="1276055" y="3765665"/>
            <a:ext cx="4775075" cy="784537"/>
          </a:xfrm>
        </p:spPr>
        <p:txBody>
          <a:bodyPr>
            <a:normAutofit fontScale="85000" lnSpcReduction="20000"/>
          </a:bodyPr>
          <a:lstStyle/>
          <a:p>
            <a:r>
              <a:rPr lang="en-US" dirty="0">
                <a:solidFill>
                  <a:schemeClr val="tx1"/>
                </a:solidFill>
              </a:rPr>
              <a:t>BY</a:t>
            </a:r>
          </a:p>
          <a:p>
            <a:r>
              <a:rPr lang="en-US" dirty="0" err="1">
                <a:solidFill>
                  <a:schemeClr val="tx1"/>
                </a:solidFill>
              </a:rPr>
              <a:t>Kasibhatla</a:t>
            </a:r>
            <a:r>
              <a:rPr lang="en-US" dirty="0">
                <a:solidFill>
                  <a:schemeClr val="tx1"/>
                </a:solidFill>
              </a:rPr>
              <a:t> </a:t>
            </a:r>
            <a:r>
              <a:rPr lang="en-US" dirty="0" err="1">
                <a:solidFill>
                  <a:schemeClr val="tx1"/>
                </a:solidFill>
              </a:rPr>
              <a:t>Shamily</a:t>
            </a:r>
            <a:r>
              <a:rPr lang="en-US" dirty="0">
                <a:solidFill>
                  <a:schemeClr val="tx1"/>
                </a:solidFill>
              </a:rPr>
              <a:t> </a:t>
            </a:r>
            <a:r>
              <a:rPr lang="en-US" dirty="0" err="1">
                <a:solidFill>
                  <a:schemeClr val="tx1"/>
                </a:solidFill>
              </a:rPr>
              <a:t>Jennymoor</a:t>
            </a:r>
            <a:endParaRPr lang="en-US" dirty="0">
              <a:solidFill>
                <a:schemeClr val="tx1"/>
              </a:solidFill>
            </a:endParaRPr>
          </a:p>
          <a:p>
            <a:r>
              <a:rPr lang="en-US" dirty="0">
                <a:solidFill>
                  <a:schemeClr val="tx1"/>
                </a:solidFill>
              </a:rPr>
              <a:t>Saurabh Tayde</a:t>
            </a:r>
          </a:p>
        </p:txBody>
      </p:sp>
    </p:spTree>
    <p:extLst>
      <p:ext uri="{BB962C8B-B14F-4D97-AF65-F5344CB8AC3E}">
        <p14:creationId xmlns:p14="http://schemas.microsoft.com/office/powerpoint/2010/main" val="215208291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D5E4C-9F1B-C1C0-FBB3-DB7C154F5AB3}"/>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105E0E25-FEC1-B9DD-1B8A-112F08F673F7}"/>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Global Insure, a leading insurance company, processes thousands of claims annually. However, a significant percentage of these claims turn out to be fraudulent, resulting in considerable financial losses. The company’s current process for identifying fraudulent claims involves manual inspections, which is time-consuming and inefficient. Fraudulent claims are often detected too late in the process, after the company has already paid out significant amounts. Global Insure wants to improve its fraud detection process using data-driven insights to classify claims as fraudulent or legitimate early in the approval process. This would </a:t>
            </a:r>
            <a:r>
              <a:rPr lang="en-US" sz="2000" dirty="0" err="1">
                <a:latin typeface="Times New Roman" panose="02020603050405020304" pitchFamily="18" charset="0"/>
                <a:cs typeface="Times New Roman" panose="02020603050405020304" pitchFamily="18" charset="0"/>
              </a:rPr>
              <a:t>minimise</a:t>
            </a:r>
            <a:r>
              <a:rPr lang="en-US" sz="2000" dirty="0">
                <a:latin typeface="Times New Roman" panose="02020603050405020304" pitchFamily="18" charset="0"/>
                <a:cs typeface="Times New Roman" panose="02020603050405020304" pitchFamily="18" charset="0"/>
              </a:rPr>
              <a:t> financial losses and </a:t>
            </a:r>
            <a:r>
              <a:rPr lang="en-US" sz="2000" dirty="0" err="1">
                <a:latin typeface="Times New Roman" panose="02020603050405020304" pitchFamily="18" charset="0"/>
                <a:cs typeface="Times New Roman" panose="02020603050405020304" pitchFamily="18" charset="0"/>
              </a:rPr>
              <a:t>optimise</a:t>
            </a:r>
            <a:r>
              <a:rPr lang="en-US" sz="2000" dirty="0">
                <a:latin typeface="Times New Roman" panose="02020603050405020304" pitchFamily="18" charset="0"/>
                <a:cs typeface="Times New Roman" panose="02020603050405020304" pitchFamily="18" charset="0"/>
              </a:rPr>
              <a:t> the overall claims handling process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2056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DD006-8457-0A59-B18B-685E9B287F5B}"/>
              </a:ext>
            </a:extLst>
          </p:cNvPr>
          <p:cNvSpPr>
            <a:spLocks noGrp="1"/>
          </p:cNvSpPr>
          <p:nvPr>
            <p:ph type="title"/>
          </p:nvPr>
        </p:nvSpPr>
        <p:spPr/>
        <p:txBody>
          <a:bodyPr/>
          <a:lstStyle/>
          <a:p>
            <a:r>
              <a:rPr lang="en-IN" dirty="0"/>
              <a:t>Business Objective</a:t>
            </a:r>
          </a:p>
        </p:txBody>
      </p:sp>
      <p:sp>
        <p:nvSpPr>
          <p:cNvPr id="3" name="Content Placeholder 2">
            <a:extLst>
              <a:ext uri="{FF2B5EF4-FFF2-40B4-BE49-F238E27FC236}">
                <a16:creationId xmlns:a16="http://schemas.microsoft.com/office/drawing/2014/main" id="{0FACE022-8D17-4615-1D96-53638A7983C9}"/>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How can we </a:t>
            </a:r>
            <a:r>
              <a:rPr lang="en-US" sz="2000" dirty="0" err="1">
                <a:latin typeface="Times New Roman" panose="02020603050405020304" pitchFamily="18" charset="0"/>
                <a:cs typeface="Times New Roman" panose="02020603050405020304" pitchFamily="18" charset="0"/>
              </a:rPr>
              <a:t>analyse</a:t>
            </a:r>
            <a:r>
              <a:rPr lang="en-US" sz="2000" dirty="0">
                <a:latin typeface="Times New Roman" panose="02020603050405020304" pitchFamily="18" charset="0"/>
                <a:cs typeface="Times New Roman" panose="02020603050405020304" pitchFamily="18" charset="0"/>
              </a:rPr>
              <a:t> historical claim data to detect patterns that indicate fraudulent claims?</a:t>
            </a:r>
          </a:p>
          <a:p>
            <a:r>
              <a:rPr lang="en-US" sz="2000" dirty="0">
                <a:latin typeface="Times New Roman" panose="02020603050405020304" pitchFamily="18" charset="0"/>
                <a:cs typeface="Times New Roman" panose="02020603050405020304" pitchFamily="18" charset="0"/>
              </a:rPr>
              <a:t>Which features are most predictive of fraudulent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Can we predict the likelihood of fraud for an incoming claim, based on past data? </a:t>
            </a:r>
          </a:p>
          <a:p>
            <a:r>
              <a:rPr lang="en-US" sz="2000" dirty="0">
                <a:latin typeface="Times New Roman" panose="02020603050405020304" pitchFamily="18" charset="0"/>
                <a:cs typeface="Times New Roman" panose="02020603050405020304" pitchFamily="18" charset="0"/>
              </a:rPr>
              <a:t>What insights can be drawn from the model that can help in improving the fraud detection process?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9937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50167-B116-9E5E-2194-6353DE57C603}"/>
              </a:ext>
            </a:extLst>
          </p:cNvPr>
          <p:cNvSpPr>
            <a:spLocks noGrp="1"/>
          </p:cNvSpPr>
          <p:nvPr>
            <p:ph type="title"/>
          </p:nvPr>
        </p:nvSpPr>
        <p:spPr/>
        <p:txBody>
          <a:bodyPr/>
          <a:lstStyle/>
          <a:p>
            <a:r>
              <a:rPr lang="en-IN" dirty="0"/>
              <a:t>Features of the Dataset</a:t>
            </a:r>
          </a:p>
        </p:txBody>
      </p:sp>
      <p:sp>
        <p:nvSpPr>
          <p:cNvPr id="3" name="Content Placeholder 2">
            <a:extLst>
              <a:ext uri="{FF2B5EF4-FFF2-40B4-BE49-F238E27FC236}">
                <a16:creationId xmlns:a16="http://schemas.microsoft.com/office/drawing/2014/main" id="{E2CBF69A-CF79-7194-8D56-843EFFDDD10F}"/>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Customer Information: Age, gender, education level, occupation, hobbies, relationship status, and tenure with the company</a:t>
            </a:r>
          </a:p>
          <a:p>
            <a:r>
              <a:rPr lang="en-US" sz="2000" dirty="0">
                <a:latin typeface="Times New Roman" panose="02020603050405020304" pitchFamily="18" charset="0"/>
                <a:cs typeface="Times New Roman" panose="02020603050405020304" pitchFamily="18" charset="0"/>
              </a:rPr>
              <a:t>Policy Details: Policy number, bind date, state, deductible amount, annual premium, and umbrella limit</a:t>
            </a:r>
          </a:p>
          <a:p>
            <a:r>
              <a:rPr lang="en-US" sz="2000" dirty="0">
                <a:latin typeface="Times New Roman" panose="02020603050405020304" pitchFamily="18" charset="0"/>
                <a:cs typeface="Times New Roman" panose="02020603050405020304" pitchFamily="18" charset="0"/>
              </a:rPr>
              <a:t>Incident Information: Date, type, severity, location, time of day, vehicles involved, witnesses, and authorities contacted</a:t>
            </a:r>
          </a:p>
          <a:p>
            <a:r>
              <a:rPr lang="en-US" sz="2000" dirty="0">
                <a:latin typeface="Times New Roman" panose="02020603050405020304" pitchFamily="18" charset="0"/>
                <a:cs typeface="Times New Roman" panose="02020603050405020304" pitchFamily="18" charset="0"/>
              </a:rPr>
              <a:t>Claim Details: Total claim amount with breakdowns for injury, property, and vehicle damage claims</a:t>
            </a:r>
          </a:p>
          <a:p>
            <a:r>
              <a:rPr lang="en-US" sz="2000" dirty="0">
                <a:latin typeface="Times New Roman" panose="02020603050405020304" pitchFamily="18" charset="0"/>
                <a:cs typeface="Times New Roman" panose="02020603050405020304" pitchFamily="18" charset="0"/>
              </a:rPr>
              <a:t>Target Variable: "</a:t>
            </a:r>
            <a:r>
              <a:rPr lang="en-US" sz="2000" dirty="0" err="1">
                <a:latin typeface="Times New Roman" panose="02020603050405020304" pitchFamily="18" charset="0"/>
                <a:cs typeface="Times New Roman" panose="02020603050405020304" pitchFamily="18" charset="0"/>
              </a:rPr>
              <a:t>fraud_reported</a:t>
            </a:r>
            <a:r>
              <a:rPr lang="en-US" sz="2000" dirty="0">
                <a:latin typeface="Times New Roman" panose="02020603050405020304" pitchFamily="18" charset="0"/>
                <a:cs typeface="Times New Roman" panose="02020603050405020304" pitchFamily="18" charset="0"/>
              </a:rPr>
              <a:t>" (Y/N) indicating whether the claim was </a:t>
            </a:r>
            <a:r>
              <a:rPr lang="en-US" sz="2000" dirty="0" err="1">
                <a:latin typeface="Times New Roman" panose="02020603050405020304" pitchFamily="18" charset="0"/>
                <a:cs typeface="Times New Roman" panose="02020603050405020304" pitchFamily="18" charset="0"/>
              </a:rPr>
              <a:t>fraudulen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9071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45D67-6D3E-B1A2-C7D1-7E13432D7419}"/>
              </a:ext>
            </a:extLst>
          </p:cNvPr>
          <p:cNvSpPr>
            <a:spLocks noGrp="1"/>
          </p:cNvSpPr>
          <p:nvPr>
            <p:ph type="title"/>
          </p:nvPr>
        </p:nvSpPr>
        <p:spPr/>
        <p:txBody>
          <a:bodyPr>
            <a:normAutofit fontScale="90000"/>
          </a:bodyPr>
          <a:lstStyle/>
          <a:p>
            <a:r>
              <a:rPr lang="en-IN" dirty="0"/>
              <a:t>Data Cleaning and Preprocessing</a:t>
            </a:r>
          </a:p>
        </p:txBody>
      </p:sp>
      <p:sp>
        <p:nvSpPr>
          <p:cNvPr id="3" name="Text Placeholder 2">
            <a:extLst>
              <a:ext uri="{FF2B5EF4-FFF2-40B4-BE49-F238E27FC236}">
                <a16:creationId xmlns:a16="http://schemas.microsoft.com/office/drawing/2014/main" id="{E6D8979C-2DAF-228B-90EB-6BE3A0853BA0}"/>
              </a:ext>
            </a:extLst>
          </p:cNvPr>
          <p:cNvSpPr>
            <a:spLocks noGrp="1"/>
          </p:cNvSpPr>
          <p:nvPr>
            <p:ph type="body" idx="1"/>
          </p:nvPr>
        </p:nvSpPr>
        <p:spPr/>
        <p:txBody>
          <a:bodyPr/>
          <a:lstStyle/>
          <a:p>
            <a:r>
              <a:rPr lang="en-IN" dirty="0"/>
              <a:t>.</a:t>
            </a:r>
          </a:p>
        </p:txBody>
      </p:sp>
    </p:spTree>
    <p:extLst>
      <p:ext uri="{BB962C8B-B14F-4D97-AF65-F5344CB8AC3E}">
        <p14:creationId xmlns:p14="http://schemas.microsoft.com/office/powerpoint/2010/main" val="3221064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95043-59F8-D50D-0040-92D4D094225A}"/>
              </a:ext>
            </a:extLst>
          </p:cNvPr>
          <p:cNvSpPr>
            <a:spLocks noGrp="1"/>
          </p:cNvSpPr>
          <p:nvPr>
            <p:ph type="title"/>
          </p:nvPr>
        </p:nvSpPr>
        <p:spPr/>
        <p:txBody>
          <a:bodyPr/>
          <a:lstStyle/>
          <a:p>
            <a:r>
              <a:rPr lang="en-IN" sz="3600" dirty="0"/>
              <a:t>Changing </a:t>
            </a:r>
            <a:r>
              <a:rPr lang="en-IN" sz="3600" dirty="0" err="1"/>
              <a:t>dtypes</a:t>
            </a:r>
            <a:r>
              <a:rPr lang="en-IN" sz="3600" dirty="0"/>
              <a:t> and Dropping columns with Unique Values:</a:t>
            </a:r>
            <a:endParaRPr lang="en-IN" dirty="0"/>
          </a:p>
        </p:txBody>
      </p:sp>
      <p:sp>
        <p:nvSpPr>
          <p:cNvPr id="3" name="Content Placeholder 2">
            <a:extLst>
              <a:ext uri="{FF2B5EF4-FFF2-40B4-BE49-F238E27FC236}">
                <a16:creationId xmlns:a16="http://schemas.microsoft.com/office/drawing/2014/main" id="{42D2015D-87AB-1CB1-E9F6-A0602604E2D1}"/>
              </a:ext>
            </a:extLst>
          </p:cNvPr>
          <p:cNvSpPr>
            <a:spLocks noGrp="1"/>
          </p:cNvSpPr>
          <p:nvPr>
            <p:ph idx="1"/>
          </p:nvPr>
        </p:nvSpPr>
        <p:spPr/>
        <p:txBody>
          <a:bodyPr/>
          <a:lstStyle/>
          <a:p>
            <a:pPr>
              <a:buNone/>
            </a:pPr>
            <a:r>
              <a:rPr lang="en-US" sz="2000" b="1" dirty="0">
                <a:latin typeface="Times New Roman" panose="02020603050405020304" pitchFamily="18" charset="0"/>
                <a:cs typeface="Times New Roman" panose="02020603050405020304" pitchFamily="18" charset="0"/>
              </a:rPr>
              <a:t>Changing Data Types (Encoding) </a:t>
            </a:r>
          </a:p>
          <a:p>
            <a:pPr>
              <a:buNone/>
            </a:pPr>
            <a:r>
              <a:rPr lang="en-US" sz="2000" dirty="0">
                <a:latin typeface="Times New Roman" panose="02020603050405020304" pitchFamily="18" charset="0"/>
                <a:cs typeface="Times New Roman" panose="02020603050405020304" pitchFamily="18" charset="0"/>
              </a:rPr>
              <a:t>Machine learning models require numerical input. Therefore, </a:t>
            </a:r>
            <a:r>
              <a:rPr lang="en-US" sz="2000" b="1" dirty="0">
                <a:latin typeface="Times New Roman" panose="02020603050405020304" pitchFamily="18" charset="0"/>
                <a:cs typeface="Times New Roman" panose="02020603050405020304" pitchFamily="18" charset="0"/>
              </a:rPr>
              <a:t>categorical (non-numeric) variables</a:t>
            </a:r>
            <a:r>
              <a:rPr lang="en-US" sz="2000" dirty="0">
                <a:latin typeface="Times New Roman" panose="02020603050405020304" pitchFamily="18" charset="0"/>
                <a:cs typeface="Times New Roman" panose="02020603050405020304" pitchFamily="18" charset="0"/>
              </a:rPr>
              <a:t> must be transformed into numeric formats. This is typically done using:</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One-Hot Encoding</a:t>
            </a:r>
            <a:r>
              <a:rPr lang="en-US" sz="2000" dirty="0">
                <a:latin typeface="Times New Roman" panose="02020603050405020304" pitchFamily="18" charset="0"/>
                <a:cs typeface="Times New Roman" panose="02020603050405020304" pitchFamily="18" charset="0"/>
              </a:rPr>
              <a:t>: Converts categorical columns into binary (0/1) variables for each unique category. This avoids implying any ordinal relationship between categories.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Label Encoding</a:t>
            </a:r>
            <a:r>
              <a:rPr lang="en-US" sz="2000" dirty="0">
                <a:latin typeface="Times New Roman" panose="02020603050405020304" pitchFamily="18" charset="0"/>
                <a:cs typeface="Times New Roman" panose="02020603050405020304" pitchFamily="18" charset="0"/>
              </a:rPr>
              <a:t>: Converts categorical labels into numeric values (e.g., ‘Y’ → 1, ‘N’ → 0). Suitable for binary classification or tree-based models like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891008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FF74D-9115-EF4A-B267-7715C3C829FD}"/>
              </a:ext>
            </a:extLst>
          </p:cNvPr>
          <p:cNvSpPr>
            <a:spLocks noGrp="1"/>
          </p:cNvSpPr>
          <p:nvPr>
            <p:ph type="title"/>
          </p:nvPr>
        </p:nvSpPr>
        <p:spPr>
          <a:xfrm flipV="1">
            <a:off x="1066800" y="590204"/>
            <a:ext cx="10058400" cy="52390"/>
          </a:xfrm>
        </p:spPr>
        <p:txBody>
          <a:bodyPr>
            <a:normAutofit fontScale="90000"/>
          </a:bodyPr>
          <a:lstStyle/>
          <a:p>
            <a:r>
              <a:rPr lang="en-IN" dirty="0"/>
              <a:t>.</a:t>
            </a:r>
          </a:p>
        </p:txBody>
      </p:sp>
      <p:sp>
        <p:nvSpPr>
          <p:cNvPr id="3" name="Content Placeholder 2">
            <a:extLst>
              <a:ext uri="{FF2B5EF4-FFF2-40B4-BE49-F238E27FC236}">
                <a16:creationId xmlns:a16="http://schemas.microsoft.com/office/drawing/2014/main" id="{156980ED-B564-A612-F04C-457119CD61D9}"/>
              </a:ext>
            </a:extLst>
          </p:cNvPr>
          <p:cNvSpPr>
            <a:spLocks noGrp="1"/>
          </p:cNvSpPr>
          <p:nvPr>
            <p:ph idx="1"/>
          </p:nvPr>
        </p:nvSpPr>
        <p:spPr>
          <a:xfrm>
            <a:off x="950422" y="1413163"/>
            <a:ext cx="10058400" cy="3849624"/>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Dropping Columns with Unique or Non-informative Values </a:t>
            </a:r>
          </a:p>
          <a:p>
            <a:r>
              <a:rPr lang="en-US" sz="2000" dirty="0">
                <a:latin typeface="Times New Roman" panose="02020603050405020304" pitchFamily="18" charset="0"/>
                <a:cs typeface="Times New Roman" panose="02020603050405020304" pitchFamily="18" charset="0"/>
              </a:rPr>
              <a:t>Columns that contain mostly unique values (like IDs, dates, or policy numbers) do not help in generalizing patterns and may introduce noise or overfitting. Such columns are:</a:t>
            </a:r>
          </a:p>
          <a:p>
            <a:r>
              <a:rPr lang="en-US" sz="2000" dirty="0">
                <a:latin typeface="Times New Roman" panose="02020603050405020304" pitchFamily="18" charset="0"/>
                <a:cs typeface="Times New Roman" panose="02020603050405020304" pitchFamily="18" charset="0"/>
              </a:rPr>
              <a:t>High cardinality (e.g., </a:t>
            </a:r>
            <a:r>
              <a:rPr lang="en-US" sz="2000" dirty="0" err="1">
                <a:latin typeface="Times New Roman" panose="02020603050405020304" pitchFamily="18" charset="0"/>
                <a:cs typeface="Times New Roman" panose="02020603050405020304" pitchFamily="18" charset="0"/>
              </a:rPr>
              <a:t>policy_number</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Irrelevant to prediction (e.g., </a:t>
            </a:r>
            <a:r>
              <a:rPr lang="en-US" sz="2000" dirty="0" err="1">
                <a:latin typeface="Times New Roman" panose="02020603050405020304" pitchFamily="18" charset="0"/>
                <a:cs typeface="Times New Roman" panose="02020603050405020304" pitchFamily="18" charset="0"/>
              </a:rPr>
              <a:t>incident_date</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Constant or nearly constant </a:t>
            </a:r>
            <a:r>
              <a:rPr lang="en-US" sz="2000" dirty="0" err="1">
                <a:latin typeface="Times New Roman" panose="02020603050405020304" pitchFamily="18" charset="0"/>
                <a:cs typeface="Times New Roman" panose="02020603050405020304" pitchFamily="18" charset="0"/>
              </a:rPr>
              <a:t>valuesTechnical</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placeholder columns (e.g., _c39, which has all nulls)</a:t>
            </a:r>
          </a:p>
          <a:p>
            <a:r>
              <a:rPr lang="en-US" sz="2000" dirty="0">
                <a:latin typeface="Times New Roman" panose="02020603050405020304" pitchFamily="18" charset="0"/>
                <a:cs typeface="Times New Roman" panose="02020603050405020304" pitchFamily="18" charset="0"/>
              </a:rPr>
              <a:t>Dropping them simplifies the dataset, improves model efficiency, and reduces overfitting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736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A8E19-9277-85B1-DD67-6C84C48690FF}"/>
              </a:ext>
            </a:extLst>
          </p:cNvPr>
          <p:cNvSpPr>
            <a:spLocks noGrp="1"/>
          </p:cNvSpPr>
          <p:nvPr>
            <p:ph type="title"/>
          </p:nvPr>
        </p:nvSpPr>
        <p:spPr/>
        <p:txBody>
          <a:bodyPr/>
          <a:lstStyle/>
          <a:p>
            <a:r>
              <a:rPr lang="en-IN" dirty="0"/>
              <a:t>Imputation of Missing Values</a:t>
            </a:r>
          </a:p>
        </p:txBody>
      </p:sp>
      <p:sp>
        <p:nvSpPr>
          <p:cNvPr id="3" name="Content Placeholder 2">
            <a:extLst>
              <a:ext uri="{FF2B5EF4-FFF2-40B4-BE49-F238E27FC236}">
                <a16:creationId xmlns:a16="http://schemas.microsoft.com/office/drawing/2014/main" id="{9591AF43-938E-4E2A-44E7-924DFBBFD460}"/>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dataset had 4 columns with missing values:</a:t>
            </a:r>
          </a:p>
          <a:p>
            <a:r>
              <a:rPr lang="en-US" sz="2000" dirty="0">
                <a:latin typeface="Times New Roman" panose="02020603050405020304" pitchFamily="18" charset="0"/>
                <a:cs typeface="Times New Roman" panose="02020603050405020304" pitchFamily="18" charset="0"/>
              </a:rPr>
              <a:t>collision_type</a:t>
            </a:r>
          </a:p>
          <a:p>
            <a:r>
              <a:rPr lang="en-US" sz="2000" dirty="0">
                <a:latin typeface="Times New Roman" panose="02020603050405020304" pitchFamily="18" charset="0"/>
                <a:cs typeface="Times New Roman" panose="02020603050405020304" pitchFamily="18" charset="0"/>
              </a:rPr>
              <a:t>property_damage</a:t>
            </a:r>
          </a:p>
          <a:p>
            <a:r>
              <a:rPr lang="en-US" sz="2000" dirty="0">
                <a:latin typeface="Times New Roman" panose="02020603050405020304" pitchFamily="18" charset="0"/>
                <a:cs typeface="Times New Roman" panose="02020603050405020304" pitchFamily="18" charset="0"/>
              </a:rPr>
              <a:t>authorities_contacted</a:t>
            </a:r>
          </a:p>
          <a:p>
            <a:r>
              <a:rPr lang="en-US" sz="2000" dirty="0">
                <a:latin typeface="Times New Roman" panose="02020603050405020304" pitchFamily="18" charset="0"/>
                <a:cs typeface="Times New Roman" panose="02020603050405020304" pitchFamily="18" charset="0"/>
              </a:rPr>
              <a:t>police_report_available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5407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ACF05-7B1C-A944-72B9-F621DF560EA4}"/>
              </a:ext>
            </a:extLst>
          </p:cNvPr>
          <p:cNvSpPr>
            <a:spLocks noGrp="1"/>
          </p:cNvSpPr>
          <p:nvPr>
            <p:ph type="title"/>
          </p:nvPr>
        </p:nvSpPr>
        <p:spPr/>
        <p:txBody>
          <a:bodyPr/>
          <a:lstStyle/>
          <a:p>
            <a:r>
              <a:rPr lang="en-US" dirty="0"/>
              <a:t>Label Encoding of Categorical Features</a:t>
            </a:r>
            <a:endParaRPr lang="en-IN" dirty="0"/>
          </a:p>
        </p:txBody>
      </p:sp>
      <p:sp>
        <p:nvSpPr>
          <p:cNvPr id="3" name="Content Placeholder 2">
            <a:extLst>
              <a:ext uri="{FF2B5EF4-FFF2-40B4-BE49-F238E27FC236}">
                <a16:creationId xmlns:a16="http://schemas.microsoft.com/office/drawing/2014/main" id="{541732CB-2BA1-6A9B-2B97-F87E0BBB53D5}"/>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Label Encoding converts categorical text data into integers.</a:t>
            </a:r>
          </a:p>
          <a:p>
            <a:r>
              <a:rPr lang="en-US" sz="2000" dirty="0">
                <a:latin typeface="Times New Roman" panose="02020603050405020304" pitchFamily="18" charset="0"/>
                <a:cs typeface="Times New Roman" panose="02020603050405020304" pitchFamily="18" charset="0"/>
              </a:rPr>
              <a:t>It's best used for binary categories or ordinal features.</a:t>
            </a:r>
          </a:p>
          <a:p>
            <a:r>
              <a:rPr lang="en-US" sz="2000" dirty="0">
                <a:latin typeface="Times New Roman" panose="02020603050405020304" pitchFamily="18" charset="0"/>
                <a:cs typeface="Times New Roman" panose="02020603050405020304" pitchFamily="18" charset="0"/>
              </a:rPr>
              <a:t>Unlike one-hot encoding, it doesn't increase dimensionality but may imply an unintended order, so it's mainly suitable for tree-based models (like Decision Trees,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2825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169C7-572A-E253-6277-A4837D115D6C}"/>
              </a:ext>
            </a:extLst>
          </p:cNvPr>
          <p:cNvSpPr>
            <a:spLocks noGrp="1"/>
          </p:cNvSpPr>
          <p:nvPr>
            <p:ph type="title"/>
          </p:nvPr>
        </p:nvSpPr>
        <p:spPr/>
        <p:txBody>
          <a:bodyPr/>
          <a:lstStyle/>
          <a:p>
            <a:r>
              <a:rPr lang="en-IN" dirty="0"/>
              <a:t>Exploratory Data Analysis</a:t>
            </a:r>
          </a:p>
        </p:txBody>
      </p:sp>
      <p:sp>
        <p:nvSpPr>
          <p:cNvPr id="3" name="Text Placeholder 2">
            <a:extLst>
              <a:ext uri="{FF2B5EF4-FFF2-40B4-BE49-F238E27FC236}">
                <a16:creationId xmlns:a16="http://schemas.microsoft.com/office/drawing/2014/main" id="{60BC33A0-87F8-BF83-4B8E-4B1FAD40D0C5}"/>
              </a:ext>
            </a:extLst>
          </p:cNvPr>
          <p:cNvSpPr>
            <a:spLocks noGrp="1"/>
          </p:cNvSpPr>
          <p:nvPr>
            <p:ph type="body" idx="1"/>
          </p:nvPr>
        </p:nvSpPr>
        <p:spPr/>
        <p:txBody>
          <a:bodyPr/>
          <a:lstStyle/>
          <a:p>
            <a:r>
              <a:rPr lang="en-IN" dirty="0"/>
              <a:t>.</a:t>
            </a:r>
          </a:p>
        </p:txBody>
      </p:sp>
    </p:spTree>
    <p:extLst>
      <p:ext uri="{BB962C8B-B14F-4D97-AF65-F5344CB8AC3E}">
        <p14:creationId xmlns:p14="http://schemas.microsoft.com/office/powerpoint/2010/main" val="2397595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44BE2-9DE8-B4FD-813B-50DAC4AE2B4C}"/>
              </a:ext>
            </a:extLst>
          </p:cNvPr>
          <p:cNvSpPr>
            <a:spLocks noGrp="1"/>
          </p:cNvSpPr>
          <p:nvPr>
            <p:ph type="title"/>
          </p:nvPr>
        </p:nvSpPr>
        <p:spPr>
          <a:xfrm>
            <a:off x="1066800" y="642594"/>
            <a:ext cx="10058400" cy="163741"/>
          </a:xfrm>
        </p:spPr>
        <p:txBody>
          <a:bodyPr>
            <a:normAutofit fontScale="90000"/>
          </a:bodyPr>
          <a:lstStyle/>
          <a:p>
            <a:r>
              <a:rPr lang="en-IN" dirty="0"/>
              <a:t>.</a:t>
            </a:r>
          </a:p>
        </p:txBody>
      </p:sp>
      <p:sp>
        <p:nvSpPr>
          <p:cNvPr id="3" name="Content Placeholder 2">
            <a:extLst>
              <a:ext uri="{FF2B5EF4-FFF2-40B4-BE49-F238E27FC236}">
                <a16:creationId xmlns:a16="http://schemas.microsoft.com/office/drawing/2014/main" id="{05EF8F4A-FF70-8D60-AA99-8B70A1333A23}"/>
              </a:ext>
            </a:extLst>
          </p:cNvPr>
          <p:cNvSpPr>
            <a:spLocks noGrp="1"/>
          </p:cNvSpPr>
          <p:nvPr>
            <p:ph idx="1"/>
          </p:nvPr>
        </p:nvSpPr>
        <p:spPr>
          <a:xfrm>
            <a:off x="975360" y="1504188"/>
            <a:ext cx="10058400" cy="3849624"/>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Exploratory Data Analysis (EDA) is the process of examining datasets to understand their structure, patterns, and key characteristics. It helps detect missing values, outliers, and relationships between variables. EDA involves statistical summaries and visualizations like histograms, boxplots, and bar charts. It guides data cleaning, transformation, and feature selection before modeling. The goal is to make the data suitable and insightful for machine learning.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375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79D78-92E0-96F4-F1CE-D4BA85D3459B}"/>
              </a:ext>
            </a:extLst>
          </p:cNvPr>
          <p:cNvSpPr>
            <a:spLocks noGrp="1"/>
          </p:cNvSpPr>
          <p:nvPr>
            <p:ph type="title"/>
          </p:nvPr>
        </p:nvSpPr>
        <p:spPr>
          <a:xfrm>
            <a:off x="8458200" y="607392"/>
            <a:ext cx="3161963" cy="1371037"/>
          </a:xfrm>
        </p:spPr>
        <p:txBody>
          <a:bodyPr>
            <a:normAutofit fontScale="90000"/>
          </a:bodyPr>
          <a:lstStyle/>
          <a:p>
            <a:r>
              <a:rPr lang="en-IN" sz="2800" dirty="0">
                <a:latin typeface="Times New Roman" panose="02020603050405020304" pitchFamily="18" charset="0"/>
                <a:cs typeface="Times New Roman" panose="02020603050405020304" pitchFamily="18" charset="0"/>
              </a:rPr>
              <a:t>Number Of Witnesses gives some information</a:t>
            </a:r>
          </a:p>
        </p:txBody>
      </p:sp>
      <p:pic>
        <p:nvPicPr>
          <p:cNvPr id="6" name="Content Placeholder 5">
            <a:extLst>
              <a:ext uri="{FF2B5EF4-FFF2-40B4-BE49-F238E27FC236}">
                <a16:creationId xmlns:a16="http://schemas.microsoft.com/office/drawing/2014/main" id="{969571F0-C712-5B46-FDDE-AC15092AE20F}"/>
              </a:ext>
            </a:extLst>
          </p:cNvPr>
          <p:cNvPicPr>
            <a:picLocks noGrp="1" noChangeAspect="1"/>
          </p:cNvPicPr>
          <p:nvPr>
            <p:ph idx="1"/>
          </p:nvPr>
        </p:nvPicPr>
        <p:blipFill>
          <a:blip r:embed="rId2"/>
          <a:stretch>
            <a:fillRect/>
          </a:stretch>
        </p:blipFill>
        <p:spPr>
          <a:xfrm>
            <a:off x="685800" y="1117005"/>
            <a:ext cx="6858000" cy="4319190"/>
          </a:xfrm>
        </p:spPr>
      </p:pic>
      <p:sp>
        <p:nvSpPr>
          <p:cNvPr id="4" name="Text Placeholder 3">
            <a:extLst>
              <a:ext uri="{FF2B5EF4-FFF2-40B4-BE49-F238E27FC236}">
                <a16:creationId xmlns:a16="http://schemas.microsoft.com/office/drawing/2014/main" id="{8887964C-93EB-2CB6-3B06-7C053FA576F5}"/>
              </a:ext>
            </a:extLst>
          </p:cNvPr>
          <p:cNvSpPr>
            <a:spLocks noGrp="1"/>
          </p:cNvSpPr>
          <p:nvPr>
            <p:ph type="body" sz="half" idx="2"/>
          </p:nvPr>
        </p:nvSpPr>
        <p:spPr>
          <a:xfrm>
            <a:off x="8458200" y="2435629"/>
            <a:ext cx="3161963" cy="3814979"/>
          </a:xfrm>
        </p:spPr>
        <p:txBody>
          <a:bodyPr/>
          <a:lstStyle/>
          <a:p>
            <a:pPr algn="just"/>
            <a:r>
              <a:rPr lang="en-US" sz="1600" dirty="0">
                <a:latin typeface="Times New Roman" panose="02020603050405020304" pitchFamily="18" charset="0"/>
                <a:cs typeface="Times New Roman" panose="02020603050405020304" pitchFamily="18" charset="0"/>
              </a:rPr>
              <a:t>1. The dataset includes a "witnesses" feature tracking the number of witnesses present during incidents (range: 0-3).  </a:t>
            </a:r>
          </a:p>
          <a:p>
            <a:pPr algn="just"/>
            <a:r>
              <a:rPr lang="en-US" sz="1600" dirty="0">
                <a:latin typeface="Times New Roman" panose="02020603050405020304" pitchFamily="18" charset="0"/>
                <a:cs typeface="Times New Roman" panose="02020603050405020304" pitchFamily="18" charset="0"/>
              </a:rPr>
              <a:t>2. Witness count may help detect fraud, as fraudulent claims often lack credible witnesses.  </a:t>
            </a:r>
          </a:p>
          <a:p>
            <a:pPr algn="just"/>
            <a:r>
              <a:rPr lang="en-US" sz="1600" dirty="0">
                <a:latin typeface="Times New Roman" panose="02020603050405020304" pitchFamily="18" charset="0"/>
                <a:cs typeface="Times New Roman" panose="02020603050405020304" pitchFamily="18" charset="0"/>
              </a:rPr>
              <a:t>3. The mean witness count was 1.49, suggesting most claims had 1-2 witnesses</a:t>
            </a:r>
            <a:r>
              <a:rPr lang="en-US" dirty="0"/>
              <a:t>.</a:t>
            </a:r>
            <a:endParaRPr lang="en-IN" dirty="0"/>
          </a:p>
        </p:txBody>
      </p:sp>
    </p:spTree>
    <p:extLst>
      <p:ext uri="{BB962C8B-B14F-4D97-AF65-F5344CB8AC3E}">
        <p14:creationId xmlns:p14="http://schemas.microsoft.com/office/powerpoint/2010/main" val="2571150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E5849-A1A8-1B36-E58A-D78CCB3DEFAC}"/>
              </a:ext>
            </a:extLst>
          </p:cNvPr>
          <p:cNvSpPr>
            <a:spLocks noGrp="1"/>
          </p:cNvSpPr>
          <p:nvPr>
            <p:ph type="title"/>
          </p:nvPr>
        </p:nvSpPr>
        <p:spPr>
          <a:xfrm>
            <a:off x="8458198" y="416892"/>
            <a:ext cx="3161963" cy="1145208"/>
          </a:xfrm>
        </p:spPr>
        <p:txBody>
          <a:bodyPr/>
          <a:lstStyle/>
          <a:p>
            <a:r>
              <a:rPr lang="en-IN" dirty="0"/>
              <a:t>Fraud Report</a:t>
            </a:r>
          </a:p>
        </p:txBody>
      </p:sp>
      <p:sp>
        <p:nvSpPr>
          <p:cNvPr id="4" name="Text Placeholder 3">
            <a:extLst>
              <a:ext uri="{FF2B5EF4-FFF2-40B4-BE49-F238E27FC236}">
                <a16:creationId xmlns:a16="http://schemas.microsoft.com/office/drawing/2014/main" id="{AB8EF5B6-29D4-A131-D40E-01BAC359C086}"/>
              </a:ext>
            </a:extLst>
          </p:cNvPr>
          <p:cNvSpPr>
            <a:spLocks noGrp="1"/>
          </p:cNvSpPr>
          <p:nvPr>
            <p:ph type="body" sz="half" idx="2"/>
          </p:nvPr>
        </p:nvSpPr>
        <p:spPr>
          <a:xfrm>
            <a:off x="8458199" y="1936750"/>
            <a:ext cx="3161963" cy="4155440"/>
          </a:xfrm>
        </p:spPr>
        <p:txBody>
          <a:bodyPr>
            <a:normAutofit fontScale="92500"/>
          </a:bodyPr>
          <a:lstStyle/>
          <a:p>
            <a:pPr algn="just">
              <a:lnSpc>
                <a:spcPts val="2143"/>
              </a:lnSpc>
              <a:spcAft>
                <a:spcPts val="300"/>
              </a:spcAft>
              <a:buNone/>
            </a:pPr>
            <a:r>
              <a:rPr lang="en-US" sz="1600" b="1" i="0" dirty="0">
                <a:solidFill>
                  <a:srgbClr val="404040"/>
                </a:solidFill>
                <a:effectLst/>
                <a:latin typeface="Times New Roman" panose="02020603050405020304" pitchFamily="18" charset="0"/>
                <a:cs typeface="Times New Roman" panose="02020603050405020304" pitchFamily="18" charset="0"/>
              </a:rPr>
              <a:t>Staged Accident Scenario</a:t>
            </a:r>
            <a:endParaRPr lang="en-US" sz="1600" b="0" i="0" dirty="0">
              <a:solidFill>
                <a:srgbClr val="404040"/>
              </a:solidFill>
              <a:effectLst/>
              <a:latin typeface="Times New Roman" panose="02020603050405020304" pitchFamily="18" charset="0"/>
              <a:cs typeface="Times New Roman" panose="02020603050405020304" pitchFamily="18" charset="0"/>
            </a:endParaRPr>
          </a:p>
          <a:p>
            <a:pPr marL="285750" indent="-285750" algn="just">
              <a:lnSpc>
                <a:spcPts val="2143"/>
              </a:lnSpc>
              <a:spcBef>
                <a:spcPts val="300"/>
              </a:spcBef>
              <a:buFont typeface="Arial" panose="020B0604020202020204" pitchFamily="34" charset="0"/>
              <a:buChar char="•"/>
            </a:pPr>
            <a:r>
              <a:rPr lang="en-US" sz="1600" b="0" i="0" dirty="0">
                <a:solidFill>
                  <a:srgbClr val="404040"/>
                </a:solidFill>
                <a:effectLst/>
                <a:latin typeface="Times New Roman" panose="02020603050405020304" pitchFamily="18" charset="0"/>
                <a:cs typeface="Times New Roman" panose="02020603050405020304" pitchFamily="18" charset="0"/>
              </a:rPr>
              <a:t>Diagram depicts a claimant reporting a fake car collision with inflated damages.</a:t>
            </a:r>
          </a:p>
          <a:p>
            <a:pPr marL="285750" indent="-285750" algn="just">
              <a:lnSpc>
                <a:spcPts val="2143"/>
              </a:lnSpc>
              <a:spcBef>
                <a:spcPts val="300"/>
              </a:spcBef>
              <a:buFont typeface="Arial" panose="020B0604020202020204" pitchFamily="34" charset="0"/>
              <a:buChar char="•"/>
            </a:pPr>
            <a:r>
              <a:rPr lang="en-US" sz="1600" b="0" i="0" dirty="0">
                <a:solidFill>
                  <a:srgbClr val="404040"/>
                </a:solidFill>
                <a:effectLst/>
                <a:latin typeface="Times New Roman" panose="02020603050405020304" pitchFamily="18" charset="0"/>
                <a:cs typeface="Times New Roman" panose="02020603050405020304" pitchFamily="18" charset="0"/>
              </a:rPr>
              <a:t>Highlights red flags like inconsistent witness statements and mismatched timestamps.</a:t>
            </a:r>
          </a:p>
          <a:p>
            <a:pPr algn="just">
              <a:lnSpc>
                <a:spcPts val="2143"/>
              </a:lnSpc>
              <a:spcBef>
                <a:spcPts val="300"/>
              </a:spcBef>
            </a:pPr>
            <a:r>
              <a:rPr lang="en-US" sz="1600" b="1" i="0" dirty="0">
                <a:solidFill>
                  <a:srgbClr val="404040"/>
                </a:solidFill>
                <a:effectLst/>
                <a:latin typeface="Times New Roman" panose="02020603050405020304" pitchFamily="18" charset="0"/>
                <a:cs typeface="Times New Roman" panose="02020603050405020304" pitchFamily="18" charset="0"/>
              </a:rPr>
              <a:t>Model Detection:</a:t>
            </a:r>
          </a:p>
          <a:p>
            <a:pPr marL="285750" indent="-285750" algn="just">
              <a:lnSpc>
                <a:spcPts val="2143"/>
              </a:lnSpc>
              <a:spcBef>
                <a:spcPts val="300"/>
              </a:spcBef>
              <a:buFont typeface="Arial" panose="020B0604020202020204" pitchFamily="34" charset="0"/>
              <a:buChar char="•"/>
            </a:pPr>
            <a:r>
              <a:rPr lang="en-US" sz="1600" b="0" i="0" dirty="0">
                <a:solidFill>
                  <a:srgbClr val="404040"/>
                </a:solidFill>
                <a:effectLst/>
                <a:latin typeface="Times New Roman" panose="02020603050405020304" pitchFamily="18" charset="0"/>
                <a:cs typeface="Times New Roman" panose="02020603050405020304" pitchFamily="18" charset="0"/>
              </a:rPr>
              <a:t>Machine learning flags anomalies (e.g., abnormal claim amounts, suspicious incident types).</a:t>
            </a:r>
          </a:p>
          <a:p>
            <a:pPr marL="285750" indent="-285750" algn="just">
              <a:lnSpc>
                <a:spcPts val="2143"/>
              </a:lnSpc>
              <a:spcBef>
                <a:spcPts val="300"/>
              </a:spcBef>
              <a:buFont typeface="Arial" panose="020B0604020202020204" pitchFamily="34" charset="0"/>
              <a:buChar char="•"/>
            </a:pPr>
            <a:r>
              <a:rPr lang="en-US" sz="1600" b="0" i="0" dirty="0">
                <a:solidFill>
                  <a:srgbClr val="404040"/>
                </a:solidFill>
                <a:effectLst/>
                <a:latin typeface="Times New Roman" panose="02020603050405020304" pitchFamily="18" charset="0"/>
                <a:cs typeface="Times New Roman" panose="02020603050405020304" pitchFamily="18" charset="0"/>
              </a:rPr>
              <a:t>Color-coded alerts (red for high-risk fraud, green for legitimate claims).</a:t>
            </a:r>
          </a:p>
          <a:p>
            <a:endParaRPr lang="en-IN" dirty="0"/>
          </a:p>
        </p:txBody>
      </p:sp>
      <p:sp>
        <p:nvSpPr>
          <p:cNvPr id="8" name="Content Placeholder 7">
            <a:extLst>
              <a:ext uri="{FF2B5EF4-FFF2-40B4-BE49-F238E27FC236}">
                <a16:creationId xmlns:a16="http://schemas.microsoft.com/office/drawing/2014/main" id="{75A7C6F9-251E-8184-3E12-DC716230ABC6}"/>
              </a:ext>
            </a:extLst>
          </p:cNvPr>
          <p:cNvSpPr>
            <a:spLocks noGrp="1"/>
          </p:cNvSpPr>
          <p:nvPr>
            <p:ph idx="1"/>
          </p:nvPr>
        </p:nvSpPr>
        <p:spPr/>
        <p:txBody>
          <a:bodyPr/>
          <a:lstStyle/>
          <a:p>
            <a:endParaRPr lang="en-IN"/>
          </a:p>
        </p:txBody>
      </p:sp>
      <p:pic>
        <p:nvPicPr>
          <p:cNvPr id="10" name="Picture 9">
            <a:extLst>
              <a:ext uri="{FF2B5EF4-FFF2-40B4-BE49-F238E27FC236}">
                <a16:creationId xmlns:a16="http://schemas.microsoft.com/office/drawing/2014/main" id="{4F886844-C8BC-6952-566D-916BF28B1AE4}"/>
              </a:ext>
            </a:extLst>
          </p:cNvPr>
          <p:cNvPicPr>
            <a:picLocks noChangeAspect="1"/>
          </p:cNvPicPr>
          <p:nvPr/>
        </p:nvPicPr>
        <p:blipFill>
          <a:blip r:embed="rId2"/>
          <a:stretch>
            <a:fillRect/>
          </a:stretch>
        </p:blipFill>
        <p:spPr>
          <a:xfrm>
            <a:off x="571837" y="523875"/>
            <a:ext cx="7133887" cy="5489004"/>
          </a:xfrm>
          <a:prstGeom prst="rect">
            <a:avLst/>
          </a:prstGeom>
        </p:spPr>
      </p:pic>
    </p:spTree>
    <p:extLst>
      <p:ext uri="{BB962C8B-B14F-4D97-AF65-F5344CB8AC3E}">
        <p14:creationId xmlns:p14="http://schemas.microsoft.com/office/powerpoint/2010/main" val="1383926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0606-2410-FCE4-8A7D-3C67E7A739CB}"/>
              </a:ext>
            </a:extLst>
          </p:cNvPr>
          <p:cNvSpPr>
            <a:spLocks noGrp="1"/>
          </p:cNvSpPr>
          <p:nvPr>
            <p:ph type="title"/>
          </p:nvPr>
        </p:nvSpPr>
        <p:spPr/>
        <p:txBody>
          <a:bodyPr>
            <a:normAutofit/>
          </a:bodyPr>
          <a:lstStyle/>
          <a:p>
            <a:r>
              <a:rPr lang="en-US" dirty="0"/>
              <a:t>Random Forest Confusion Matrix :</a:t>
            </a:r>
            <a:endParaRPr lang="en-IN" dirty="0"/>
          </a:p>
        </p:txBody>
      </p:sp>
      <p:pic>
        <p:nvPicPr>
          <p:cNvPr id="8" name="Content Placeholder 7">
            <a:extLst>
              <a:ext uri="{FF2B5EF4-FFF2-40B4-BE49-F238E27FC236}">
                <a16:creationId xmlns:a16="http://schemas.microsoft.com/office/drawing/2014/main" id="{09945C75-7B82-41FF-F79A-64E2751B375D}"/>
              </a:ext>
            </a:extLst>
          </p:cNvPr>
          <p:cNvPicPr>
            <a:picLocks noGrp="1" noChangeAspect="1"/>
          </p:cNvPicPr>
          <p:nvPr>
            <p:ph idx="1"/>
          </p:nvPr>
        </p:nvPicPr>
        <p:blipFill>
          <a:blip r:embed="rId2"/>
          <a:stretch>
            <a:fillRect/>
          </a:stretch>
        </p:blipFill>
        <p:spPr>
          <a:xfrm>
            <a:off x="1077967" y="674144"/>
            <a:ext cx="6073666" cy="5204911"/>
          </a:xfrm>
        </p:spPr>
      </p:pic>
      <p:sp>
        <p:nvSpPr>
          <p:cNvPr id="4" name="Text Placeholder 3">
            <a:extLst>
              <a:ext uri="{FF2B5EF4-FFF2-40B4-BE49-F238E27FC236}">
                <a16:creationId xmlns:a16="http://schemas.microsoft.com/office/drawing/2014/main" id="{169653D7-A200-8D8A-543F-C901116C4F0C}"/>
              </a:ext>
            </a:extLst>
          </p:cNvPr>
          <p:cNvSpPr>
            <a:spLocks noGrp="1"/>
          </p:cNvSpPr>
          <p:nvPr>
            <p:ph type="body" sz="half" idx="2"/>
          </p:nvPr>
        </p:nvSpPr>
        <p:spPr>
          <a:xfrm>
            <a:off x="8458200" y="2643808"/>
            <a:ext cx="3161963" cy="3606800"/>
          </a:xfrm>
        </p:spPr>
        <p:txBody>
          <a:bodyPr/>
          <a:lstStyle/>
          <a:p>
            <a:pPr algn="just"/>
            <a:r>
              <a:rPr lang="en-US" dirty="0">
                <a:latin typeface="Times New Roman" panose="02020603050405020304" pitchFamily="18" charset="0"/>
                <a:cs typeface="Times New Roman" panose="02020603050405020304" pitchFamily="18" charset="0"/>
              </a:rPr>
              <a:t>The confusion matrix shows the Random Forest model correctly identified 45 fraud cases but missed 29 (False Negatives) and flagged 30 legitimate claims as fraud (False Positives), indicating solid but imperfect fraud detection.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5035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E10F3-E951-1435-8CCF-E1583C55C19D}"/>
              </a:ext>
            </a:extLst>
          </p:cNvPr>
          <p:cNvSpPr>
            <a:spLocks noGrp="1"/>
          </p:cNvSpPr>
          <p:nvPr>
            <p:ph type="title"/>
          </p:nvPr>
        </p:nvSpPr>
        <p:spPr/>
        <p:txBody>
          <a:bodyPr/>
          <a:lstStyle/>
          <a:p>
            <a:r>
              <a:rPr lang="en-IN" dirty="0"/>
              <a:t>Feature Selection</a:t>
            </a:r>
          </a:p>
        </p:txBody>
      </p:sp>
      <p:sp>
        <p:nvSpPr>
          <p:cNvPr id="3" name="Text Placeholder 2">
            <a:extLst>
              <a:ext uri="{FF2B5EF4-FFF2-40B4-BE49-F238E27FC236}">
                <a16:creationId xmlns:a16="http://schemas.microsoft.com/office/drawing/2014/main" id="{31BADD4F-06B3-B573-938F-A69E9E1665B2}"/>
              </a:ext>
            </a:extLst>
          </p:cNvPr>
          <p:cNvSpPr>
            <a:spLocks noGrp="1"/>
          </p:cNvSpPr>
          <p:nvPr>
            <p:ph type="body" idx="1"/>
          </p:nvPr>
        </p:nvSpPr>
        <p:spPr/>
        <p:txBody>
          <a:bodyPr/>
          <a:lstStyle/>
          <a:p>
            <a:r>
              <a:rPr lang="en-IN" dirty="0"/>
              <a:t>.</a:t>
            </a:r>
          </a:p>
        </p:txBody>
      </p:sp>
    </p:spTree>
    <p:extLst>
      <p:ext uri="{BB962C8B-B14F-4D97-AF65-F5344CB8AC3E}">
        <p14:creationId xmlns:p14="http://schemas.microsoft.com/office/powerpoint/2010/main" val="401599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CBC58-574E-0311-16FA-C14F3E980C7C}"/>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Correlation Amongst Numerical Features:</a:t>
            </a:r>
          </a:p>
        </p:txBody>
      </p:sp>
      <p:pic>
        <p:nvPicPr>
          <p:cNvPr id="6" name="Content Placeholder 5">
            <a:extLst>
              <a:ext uri="{FF2B5EF4-FFF2-40B4-BE49-F238E27FC236}">
                <a16:creationId xmlns:a16="http://schemas.microsoft.com/office/drawing/2014/main" id="{232BE240-8B46-55FC-63EE-B348287F44AB}"/>
              </a:ext>
            </a:extLst>
          </p:cNvPr>
          <p:cNvPicPr>
            <a:picLocks noGrp="1" noChangeAspect="1"/>
          </p:cNvPicPr>
          <p:nvPr>
            <p:ph idx="1"/>
          </p:nvPr>
        </p:nvPicPr>
        <p:blipFill>
          <a:blip r:embed="rId2"/>
          <a:stretch>
            <a:fillRect/>
          </a:stretch>
        </p:blipFill>
        <p:spPr>
          <a:xfrm>
            <a:off x="1160986" y="609600"/>
            <a:ext cx="5907628" cy="5334000"/>
          </a:xfrm>
        </p:spPr>
      </p:pic>
      <p:sp>
        <p:nvSpPr>
          <p:cNvPr id="4" name="Text Placeholder 3">
            <a:extLst>
              <a:ext uri="{FF2B5EF4-FFF2-40B4-BE49-F238E27FC236}">
                <a16:creationId xmlns:a16="http://schemas.microsoft.com/office/drawing/2014/main" id="{CCA15AE9-FCFD-BF0E-F3D8-7A4FD8247FA1}"/>
              </a:ext>
            </a:extLst>
          </p:cNvPr>
          <p:cNvSpPr>
            <a:spLocks noGrp="1"/>
          </p:cNvSpPr>
          <p:nvPr>
            <p:ph type="body" sz="half" idx="2"/>
          </p:nvPr>
        </p:nvSpPr>
        <p:spPr>
          <a:xfrm>
            <a:off x="8267700" y="2336799"/>
            <a:ext cx="3533775" cy="4073525"/>
          </a:xfrm>
        </p:spPr>
        <p:txBody>
          <a:bodyPr/>
          <a:lstStyle/>
          <a:p>
            <a:pPr algn="just"/>
            <a:r>
              <a:rPr lang="en-US" b="1" dirty="0">
                <a:latin typeface="Times New Roman" panose="02020603050405020304" pitchFamily="18" charset="0"/>
                <a:cs typeface="Times New Roman" panose="02020603050405020304" pitchFamily="18" charset="0"/>
              </a:rPr>
              <a:t>Initial Imbalance Handling: </a:t>
            </a:r>
            <a:r>
              <a:rPr lang="en-US" dirty="0">
                <a:latin typeface="Times New Roman" panose="02020603050405020304" pitchFamily="18" charset="0"/>
                <a:cs typeface="Times New Roman" panose="02020603050405020304" pitchFamily="18" charset="0"/>
              </a:rPr>
              <a:t>The raw data showed a 3:1 class imbalance (526 legitimate vs 173 fraud cases), which can bias models toward the majority class.</a:t>
            </a:r>
          </a:p>
          <a:p>
            <a:pPr algn="just"/>
            <a:r>
              <a:rPr lang="en-US" b="1" dirty="0">
                <a:latin typeface="Times New Roman" panose="02020603050405020304" pitchFamily="18" charset="0"/>
                <a:cs typeface="Times New Roman" panose="02020603050405020304" pitchFamily="18" charset="0"/>
              </a:rPr>
              <a:t>SMOTE Resampling: </a:t>
            </a:r>
            <a:r>
              <a:rPr lang="en-US" dirty="0">
                <a:latin typeface="Times New Roman" panose="02020603050405020304" pitchFamily="18" charset="0"/>
                <a:cs typeface="Times New Roman" panose="02020603050405020304" pitchFamily="18" charset="0"/>
              </a:rPr>
              <a:t>Synthetic Minority Oversampling (SMOTE) balanced classes by generating synthetic fraud cases, creating a 1:1 ratio (526 fraud vs 526 legitimate).</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2926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EC5F-FAA8-E2EF-5BD5-54FA2563AFFB}"/>
              </a:ext>
            </a:extLst>
          </p:cNvPr>
          <p:cNvSpPr>
            <a:spLocks noGrp="1"/>
          </p:cNvSpPr>
          <p:nvPr>
            <p:ph type="title"/>
          </p:nvPr>
        </p:nvSpPr>
        <p:spPr/>
        <p:txBody>
          <a:bodyPr/>
          <a:lstStyle/>
          <a:p>
            <a:r>
              <a:rPr lang="en-IN" dirty="0"/>
              <a:t>Models and Approaches</a:t>
            </a:r>
          </a:p>
        </p:txBody>
      </p:sp>
      <p:sp>
        <p:nvSpPr>
          <p:cNvPr id="3" name="Text Placeholder 2">
            <a:extLst>
              <a:ext uri="{FF2B5EF4-FFF2-40B4-BE49-F238E27FC236}">
                <a16:creationId xmlns:a16="http://schemas.microsoft.com/office/drawing/2014/main" id="{4D4EF16C-03EB-EC07-A537-8BD642662D6B}"/>
              </a:ext>
            </a:extLst>
          </p:cNvPr>
          <p:cNvSpPr>
            <a:spLocks noGrp="1"/>
          </p:cNvSpPr>
          <p:nvPr>
            <p:ph type="body" idx="1"/>
          </p:nvPr>
        </p:nvSpPr>
        <p:spPr/>
        <p:txBody>
          <a:bodyPr/>
          <a:lstStyle/>
          <a:p>
            <a:r>
              <a:rPr lang="en-IN" dirty="0"/>
              <a:t>.</a:t>
            </a:r>
          </a:p>
        </p:txBody>
      </p:sp>
    </p:spTree>
    <p:extLst>
      <p:ext uri="{BB962C8B-B14F-4D97-AF65-F5344CB8AC3E}">
        <p14:creationId xmlns:p14="http://schemas.microsoft.com/office/powerpoint/2010/main" val="869567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F0869-DFE9-7E2C-9DE2-46D9B585762E}"/>
              </a:ext>
            </a:extLst>
          </p:cNvPr>
          <p:cNvSpPr>
            <a:spLocks noGrp="1"/>
          </p:cNvSpPr>
          <p:nvPr>
            <p:ph type="title"/>
          </p:nvPr>
        </p:nvSpPr>
        <p:spPr>
          <a:xfrm flipV="1">
            <a:off x="1066800" y="447675"/>
            <a:ext cx="10058400" cy="194919"/>
          </a:xfrm>
        </p:spPr>
        <p:txBody>
          <a:bodyPr>
            <a:normAutofit fontScale="90000"/>
          </a:bodyPr>
          <a:lstStyle/>
          <a:p>
            <a:r>
              <a:rPr lang="en-IN" dirty="0"/>
              <a:t>.</a:t>
            </a:r>
          </a:p>
        </p:txBody>
      </p:sp>
      <p:sp>
        <p:nvSpPr>
          <p:cNvPr id="3" name="Content Placeholder 2">
            <a:extLst>
              <a:ext uri="{FF2B5EF4-FFF2-40B4-BE49-F238E27FC236}">
                <a16:creationId xmlns:a16="http://schemas.microsoft.com/office/drawing/2014/main" id="{C603482E-7FB5-1C8F-E9AF-2160AAE1167D}"/>
              </a:ext>
            </a:extLst>
          </p:cNvPr>
          <p:cNvSpPr>
            <a:spLocks noGrp="1"/>
          </p:cNvSpPr>
          <p:nvPr>
            <p:ph idx="1"/>
          </p:nvPr>
        </p:nvSpPr>
        <p:spPr>
          <a:xfrm>
            <a:off x="409575" y="514349"/>
            <a:ext cx="11315700" cy="5991225"/>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Traditional ML Models</a:t>
            </a:r>
          </a:p>
          <a:p>
            <a:r>
              <a:rPr lang="en-US" sz="2000" dirty="0">
                <a:latin typeface="Times New Roman" panose="02020603050405020304" pitchFamily="18" charset="0"/>
                <a:cs typeface="Times New Roman" panose="02020603050405020304" pitchFamily="18" charset="0"/>
              </a:rPr>
              <a:t> Decision Tree: Rule-based splitting of data to classify claims</a:t>
            </a:r>
          </a:p>
          <a:p>
            <a:r>
              <a:rPr lang="en-US" sz="2000" dirty="0">
                <a:latin typeface="Times New Roman" panose="02020603050405020304" pitchFamily="18" charset="0"/>
                <a:cs typeface="Times New Roman" panose="02020603050405020304" pitchFamily="18" charset="0"/>
              </a:rPr>
              <a:t>Random Forest: Ensemble of decision trees to reduce overfitting</a:t>
            </a:r>
          </a:p>
          <a:p>
            <a:r>
              <a:rPr lang="en-US" sz="2000" dirty="0">
                <a:latin typeface="Times New Roman" panose="02020603050405020304" pitchFamily="18" charset="0"/>
                <a:cs typeface="Times New Roman" panose="02020603050405020304" pitchFamily="18" charset="0"/>
              </a:rPr>
              <a:t>SVM: Finds optimal hyperplane to separate fraud/non-fraud cases</a:t>
            </a:r>
          </a:p>
          <a:p>
            <a:pPr marL="0" indent="0">
              <a:buNone/>
            </a:pPr>
            <a:r>
              <a:rPr lang="en-US" sz="2000" b="1" dirty="0">
                <a:latin typeface="Times New Roman" panose="02020603050405020304" pitchFamily="18" charset="0"/>
                <a:cs typeface="Times New Roman" panose="02020603050405020304" pitchFamily="18" charset="0"/>
              </a:rPr>
              <a:t>Boosting Algorithms</a:t>
            </a:r>
          </a:p>
          <a:p>
            <a:r>
              <a:rPr lang="en-US" sz="2000" dirty="0">
                <a:latin typeface="Times New Roman" panose="02020603050405020304" pitchFamily="18" charset="0"/>
                <a:cs typeface="Times New Roman" panose="02020603050405020304" pitchFamily="18" charset="0"/>
              </a:rPr>
              <a:t>AdaBoost: Adaptive boosting with decision stumps as weak </a:t>
            </a:r>
            <a:r>
              <a:rPr lang="en-US" sz="2000" dirty="0" err="1">
                <a:latin typeface="Times New Roman" panose="02020603050405020304" pitchFamily="18" charset="0"/>
                <a:cs typeface="Times New Roman" panose="02020603050405020304" pitchFamily="18" charset="0"/>
              </a:rPr>
              <a:t>learnersGradient</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Boosting: Sequential correction of previous models' errors</a:t>
            </a:r>
          </a:p>
          <a:p>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Optimized gradient boosting with regularization</a:t>
            </a:r>
          </a:p>
          <a:p>
            <a:pPr marL="0" indent="0">
              <a:buNone/>
            </a:pPr>
            <a:r>
              <a:rPr lang="en-US" sz="2000" b="1" dirty="0">
                <a:latin typeface="Times New Roman" panose="02020603050405020304" pitchFamily="18" charset="0"/>
                <a:cs typeface="Times New Roman" panose="02020603050405020304" pitchFamily="18" charset="0"/>
              </a:rPr>
              <a:t>Ensemble &amp; Specialized Approaches</a:t>
            </a:r>
          </a:p>
          <a:p>
            <a:r>
              <a:rPr lang="en-US" sz="2000" dirty="0">
                <a:latin typeface="Times New Roman" panose="02020603050405020304" pitchFamily="18" charset="0"/>
                <a:cs typeface="Times New Roman" panose="02020603050405020304" pitchFamily="18" charset="0"/>
              </a:rPr>
              <a:t>Voting Classifier: Combined predictions from all models</a:t>
            </a:r>
          </a:p>
          <a:p>
            <a:r>
              <a:rPr lang="en-US" sz="2000" dirty="0">
                <a:latin typeface="Times New Roman" panose="02020603050405020304" pitchFamily="18" charset="0"/>
                <a:cs typeface="Times New Roman" panose="02020603050405020304" pitchFamily="18" charset="0"/>
              </a:rPr>
              <a:t>Extra Trees: Extremely randomized trees variant of Random Forest</a:t>
            </a:r>
          </a:p>
          <a:p>
            <a:r>
              <a:rPr lang="en-US" sz="2000" dirty="0">
                <a:latin typeface="Times New Roman" panose="02020603050405020304" pitchFamily="18" charset="0"/>
                <a:cs typeface="Times New Roman" panose="02020603050405020304" pitchFamily="18" charset="0"/>
              </a:rPr>
              <a:t>KNN: Distance-based classification using nearest neighbors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7245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B47B3-358B-716A-BAC6-F3FF802DA68D}"/>
              </a:ext>
            </a:extLst>
          </p:cNvPr>
          <p:cNvSpPr>
            <a:spLocks noGrp="1"/>
          </p:cNvSpPr>
          <p:nvPr>
            <p:ph type="title"/>
          </p:nvPr>
        </p:nvSpPr>
        <p:spPr>
          <a:xfrm>
            <a:off x="1066800" y="642594"/>
            <a:ext cx="10058400" cy="900456"/>
          </a:xfrm>
        </p:spPr>
        <p:txBody>
          <a:bodyPr>
            <a:normAutofit fontScale="90000"/>
          </a:bodyPr>
          <a:lstStyle/>
          <a:p>
            <a:br>
              <a:rPr lang="en-US" dirty="0"/>
            </a:br>
            <a:r>
              <a:rPr lang="en-US" dirty="0"/>
              <a:t>Conclusion:</a:t>
            </a:r>
            <a:endParaRPr lang="en-IN" dirty="0"/>
          </a:p>
        </p:txBody>
      </p:sp>
      <p:sp>
        <p:nvSpPr>
          <p:cNvPr id="3" name="Content Placeholder 2">
            <a:extLst>
              <a:ext uri="{FF2B5EF4-FFF2-40B4-BE49-F238E27FC236}">
                <a16:creationId xmlns:a16="http://schemas.microsoft.com/office/drawing/2014/main" id="{0632CAE9-5875-0514-AA17-320715CB561B}"/>
              </a:ext>
            </a:extLst>
          </p:cNvPr>
          <p:cNvSpPr>
            <a:spLocks noGrp="1"/>
          </p:cNvSpPr>
          <p:nvPr>
            <p:ph idx="1"/>
          </p:nvPr>
        </p:nvSpPr>
        <p:spPr>
          <a:xfrm>
            <a:off x="942975" y="2038350"/>
            <a:ext cx="10448925" cy="4323969"/>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fraud detection analysis for Global Insure achieved significant results through machine learning, with key models like Random Forest (60.8% sensitivity, 86.7% specificity) and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demonstrating strong performance. The dataset, initially imbalanced at a 3:1 ratio (526 legitimate vs. 173 fraud cases), was balanced using SMOTE, resulting in 526 samples per class for fairer training. Feature engineering, including date-based features and correlation analysis, helped identify critical fraud indicators such as inflated claim amounts and inconsistent incident timelines. However, the models showed room for improvement, with 29 false negatives (missed frauds) and 30 false positives (legitimate claims flagged as fraud), highlighting a trade-off between catching fraud and minimizing customer disruption.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6405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38621-163E-1D20-BDB5-93A2BF1CA25A}"/>
              </a:ext>
            </a:extLst>
          </p:cNvPr>
          <p:cNvSpPr>
            <a:spLocks noGrp="1"/>
          </p:cNvSpPr>
          <p:nvPr>
            <p:ph type="title"/>
          </p:nvPr>
        </p:nvSpPr>
        <p:spPr>
          <a:xfrm flipV="1">
            <a:off x="1066800" y="238125"/>
            <a:ext cx="10058400" cy="404469"/>
          </a:xfrm>
        </p:spPr>
        <p:txBody>
          <a:bodyPr>
            <a:normAutofit fontScale="90000"/>
          </a:bodyPr>
          <a:lstStyle/>
          <a:p>
            <a:r>
              <a:rPr lang="en-IN" dirty="0"/>
              <a:t>.</a:t>
            </a:r>
          </a:p>
        </p:txBody>
      </p:sp>
      <p:sp>
        <p:nvSpPr>
          <p:cNvPr id="3" name="Content Placeholder 2">
            <a:extLst>
              <a:ext uri="{FF2B5EF4-FFF2-40B4-BE49-F238E27FC236}">
                <a16:creationId xmlns:a16="http://schemas.microsoft.com/office/drawing/2014/main" id="{3A10AAA6-5A3E-0771-D717-FD8150F040A3}"/>
              </a:ext>
            </a:extLst>
          </p:cNvPr>
          <p:cNvSpPr>
            <a:spLocks noGrp="1"/>
          </p:cNvSpPr>
          <p:nvPr>
            <p:ph idx="1"/>
          </p:nvPr>
        </p:nvSpPr>
        <p:spPr>
          <a:xfrm>
            <a:off x="1066800" y="1380172"/>
            <a:ext cx="10058400" cy="4097655"/>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Voting Classifier, combining multiple models, provided the most robust solution, while </a:t>
            </a:r>
            <a:r>
              <a:rPr lang="en-US" sz="2000" dirty="0" err="1">
                <a:latin typeface="Times New Roman" panose="02020603050405020304" pitchFamily="18" charset="0"/>
                <a:cs typeface="Times New Roman" panose="02020603050405020304" pitchFamily="18" charset="0"/>
              </a:rPr>
              <a:t>GridSearchCV</a:t>
            </a:r>
            <a:r>
              <a:rPr lang="en-US" sz="2000" dirty="0">
                <a:latin typeface="Times New Roman" panose="02020603050405020304" pitchFamily="18" charset="0"/>
                <a:cs typeface="Times New Roman" panose="02020603050405020304" pitchFamily="18" charset="0"/>
              </a:rPr>
              <a:t> optimized hyperparameters for better precision. The F1-score (60.4%) reflected a balance between precision (60.0%) and recall (60.8%), ensuring reliable fraud detection without excessive false alarms. Implementing this system allows Global Insure to transition from manual checks to an automated, data-driven process, reducing financial losses from undetected fraud. Future enhancements could include real-time claim monitoring and NLP for incident reports, further improving accuracy. This framework not only addresses current fraud challenges but also offers a scalable, adaptive solution for evolving fraud tactics, aligning with the company’s goal of minimizing payouts to fraudulent claims while streamlining operations.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9598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C3B7B-6EEF-8443-DED6-CF1E8841BB20}"/>
              </a:ext>
            </a:extLst>
          </p:cNvPr>
          <p:cNvSpPr>
            <a:spLocks noGrp="1"/>
          </p:cNvSpPr>
          <p:nvPr>
            <p:ph type="title"/>
          </p:nvPr>
        </p:nvSpPr>
        <p:spPr/>
        <p:txBody>
          <a:bodyPr/>
          <a:lstStyle/>
          <a:p>
            <a:r>
              <a:rPr lang="en-IN" dirty="0"/>
              <a:t>Insights and Business Decisions:</a:t>
            </a:r>
          </a:p>
        </p:txBody>
      </p:sp>
      <p:sp>
        <p:nvSpPr>
          <p:cNvPr id="3" name="Content Placeholder 2">
            <a:extLst>
              <a:ext uri="{FF2B5EF4-FFF2-40B4-BE49-F238E27FC236}">
                <a16:creationId xmlns:a16="http://schemas.microsoft.com/office/drawing/2014/main" id="{FF1CB336-F177-CFD7-04B6-F0B4546712ED}"/>
              </a:ext>
            </a:extLst>
          </p:cNvPr>
          <p:cNvSpPr>
            <a:spLocks noGrp="1"/>
          </p:cNvSpPr>
          <p:nvPr>
            <p:ph idx="1"/>
          </p:nvPr>
        </p:nvSpPr>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Model Performance Insights</a:t>
            </a:r>
          </a:p>
          <a:p>
            <a:pPr marL="0" indent="0">
              <a:buNone/>
            </a:pPr>
            <a:r>
              <a:rPr lang="en-US" sz="2000" dirty="0">
                <a:latin typeface="Times New Roman" panose="02020603050405020304" pitchFamily="18" charset="0"/>
                <a:cs typeface="Times New Roman" panose="02020603050405020304" pitchFamily="18" charset="0"/>
              </a:rPr>
              <a:t>Random Forest &amp;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emerged as top performers, with 60.8% recall (sensitivity) and 86.7% specificity, effectively identifying fraud while minimizing false alarms.</a:t>
            </a:r>
          </a:p>
          <a:p>
            <a:pPr marL="0" indent="0">
              <a:buNone/>
            </a:pPr>
            <a:r>
              <a:rPr lang="en-US" sz="2000" dirty="0">
                <a:latin typeface="Times New Roman" panose="02020603050405020304" pitchFamily="18" charset="0"/>
                <a:cs typeface="Times New Roman" panose="02020603050405020304" pitchFamily="18" charset="0"/>
              </a:rPr>
              <a:t>Trade-off Analysis: The model missed 29 fraud cases (false negatives) and flagged 30 legitimate claims as fraud (false positives), indicating a need for threshold tuning based on business priorities.</a:t>
            </a:r>
          </a:p>
          <a:p>
            <a:pPr marL="0" indent="0">
              <a:buNone/>
            </a:pPr>
            <a:r>
              <a:rPr lang="en-US" sz="2000" dirty="0">
                <a:latin typeface="Times New Roman" panose="02020603050405020304" pitchFamily="18" charset="0"/>
                <a:cs typeface="Times New Roman" panose="02020603050405020304" pitchFamily="18" charset="0"/>
              </a:rPr>
              <a:t>Ensemble Learning Boost: The Voting Classifier (F1-score: 60.4%) improved stability by combining multiple models, ensuring balanced precision and recall.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2937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34100-B4C3-3B23-4715-C23F5423865D}"/>
              </a:ext>
            </a:extLst>
          </p:cNvPr>
          <p:cNvSpPr>
            <a:spLocks noGrp="1"/>
          </p:cNvSpPr>
          <p:nvPr>
            <p:ph type="title"/>
          </p:nvPr>
        </p:nvSpPr>
        <p:spPr>
          <a:xfrm flipV="1">
            <a:off x="1066800" y="596875"/>
            <a:ext cx="10058400" cy="45719"/>
          </a:xfrm>
        </p:spPr>
        <p:txBody>
          <a:bodyPr>
            <a:normAutofit fontScale="90000"/>
          </a:bodyPr>
          <a:lstStyle/>
          <a:p>
            <a:r>
              <a:rPr lang="en-IN" dirty="0"/>
              <a:t>.</a:t>
            </a:r>
          </a:p>
        </p:txBody>
      </p:sp>
      <p:sp>
        <p:nvSpPr>
          <p:cNvPr id="3" name="Content Placeholder 2">
            <a:extLst>
              <a:ext uri="{FF2B5EF4-FFF2-40B4-BE49-F238E27FC236}">
                <a16:creationId xmlns:a16="http://schemas.microsoft.com/office/drawing/2014/main" id="{4E84BF02-1AC2-2AF3-70BC-2F475C45F685}"/>
              </a:ext>
            </a:extLst>
          </p:cNvPr>
          <p:cNvSpPr>
            <a:spLocks noGrp="1"/>
          </p:cNvSpPr>
          <p:nvPr>
            <p:ph idx="1"/>
          </p:nvPr>
        </p:nvSpPr>
        <p:spPr>
          <a:xfrm>
            <a:off x="285750" y="267309"/>
            <a:ext cx="11639549" cy="5802022"/>
          </a:xfrm>
        </p:spPr>
        <p:txBody>
          <a:bodyPr>
            <a:normAutofit fontScale="92500" lnSpcReduction="10000"/>
          </a:bodyPr>
          <a:lstStyle/>
          <a:p>
            <a:pPr marL="0" indent="0">
              <a:buNone/>
            </a:pPr>
            <a:r>
              <a:rPr lang="en-US" sz="2000" b="1" dirty="0">
                <a:latin typeface="Times New Roman" panose="02020603050405020304" pitchFamily="18" charset="0"/>
                <a:cs typeface="Times New Roman" panose="02020603050405020304" pitchFamily="18" charset="0"/>
              </a:rPr>
              <a:t>Strategic Business Decisions</a:t>
            </a:r>
          </a:p>
          <a:p>
            <a:r>
              <a:rPr lang="en-US" sz="2000" dirty="0">
                <a:latin typeface="Times New Roman" panose="02020603050405020304" pitchFamily="18" charset="0"/>
                <a:cs typeface="Times New Roman" panose="02020603050405020304" pitchFamily="18" charset="0"/>
              </a:rPr>
              <a:t>Automate Early Fraud Detection: Deploy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or Random Forest in claims processing to flag high-risk cases before payout, reducing financial losses.</a:t>
            </a:r>
          </a:p>
          <a:p>
            <a:r>
              <a:rPr lang="en-US" sz="2000" dirty="0">
                <a:latin typeface="Times New Roman" panose="02020603050405020304" pitchFamily="18" charset="0"/>
                <a:cs typeface="Times New Roman" panose="02020603050405020304" pitchFamily="18" charset="0"/>
              </a:rPr>
              <a:t>Optimize Cost vs. Customer </a:t>
            </a:r>
            <a:r>
              <a:rPr lang="en-US" sz="2000" dirty="0" err="1">
                <a:latin typeface="Times New Roman" panose="02020603050405020304" pitchFamily="18" charset="0"/>
                <a:cs typeface="Times New Roman" panose="02020603050405020304" pitchFamily="18" charset="0"/>
              </a:rPr>
              <a:t>Experience:If</a:t>
            </a:r>
            <a:r>
              <a:rPr lang="en-US" sz="2000" dirty="0">
                <a:latin typeface="Times New Roman" panose="02020603050405020304" pitchFamily="18" charset="0"/>
                <a:cs typeface="Times New Roman" panose="02020603050405020304" pitchFamily="18" charset="0"/>
              </a:rPr>
              <a:t> fraud losses are critical: Lower classification thresholds to catch more fraud (higher recall), accepting more false positives.</a:t>
            </a:r>
          </a:p>
          <a:p>
            <a:r>
              <a:rPr lang="en-US" sz="2000" dirty="0">
                <a:latin typeface="Times New Roman" panose="02020603050405020304" pitchFamily="18" charset="0"/>
                <a:cs typeface="Times New Roman" panose="02020603050405020304" pitchFamily="18" charset="0"/>
              </a:rPr>
              <a:t>If customer trust is priority: Increase thresholds to reduce false positives, ensuring fewer legitimate claims are delayed.</a:t>
            </a:r>
          </a:p>
          <a:p>
            <a:pPr marL="0" indent="0">
              <a:buNone/>
            </a:pPr>
            <a:r>
              <a:rPr lang="en-US" sz="2000" b="1" dirty="0">
                <a:latin typeface="Times New Roman" panose="02020603050405020304" pitchFamily="18" charset="0"/>
                <a:cs typeface="Times New Roman" panose="02020603050405020304" pitchFamily="18" charset="0"/>
              </a:rPr>
              <a:t>Continuous Improvement: </a:t>
            </a:r>
          </a:p>
          <a:p>
            <a:r>
              <a:rPr lang="en-US" sz="2000" dirty="0">
                <a:latin typeface="Times New Roman" panose="02020603050405020304" pitchFamily="18" charset="0"/>
                <a:cs typeface="Times New Roman" panose="02020603050405020304" pitchFamily="18" charset="0"/>
              </a:rPr>
              <a:t>Expand features (e.g., geospatial data, text analysis of incident reports) to improve accuracy.</a:t>
            </a:r>
          </a:p>
          <a:p>
            <a:r>
              <a:rPr lang="en-US" sz="2000" dirty="0">
                <a:latin typeface="Times New Roman" panose="02020603050405020304" pitchFamily="18" charset="0"/>
                <a:cs typeface="Times New Roman" panose="02020603050405020304" pitchFamily="18" charset="0"/>
              </a:rPr>
              <a:t>Retrain models quarterly to adapt to new fraud patterns.</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ROI &amp; Operational Impact</a:t>
            </a:r>
          </a:p>
          <a:p>
            <a:r>
              <a:rPr lang="en-US" sz="2000" dirty="0">
                <a:latin typeface="Times New Roman" panose="02020603050405020304" pitchFamily="18" charset="0"/>
                <a:cs typeface="Times New Roman" panose="02020603050405020304" pitchFamily="18" charset="0"/>
              </a:rPr>
              <a:t>Cost Savings: Reducing undetected fraud (false negatives) could save millions annually, given Global </a:t>
            </a:r>
            <a:r>
              <a:rPr lang="en-US" sz="2000" dirty="0" err="1">
                <a:latin typeface="Times New Roman" panose="02020603050405020304" pitchFamily="18" charset="0"/>
                <a:cs typeface="Times New Roman" panose="02020603050405020304" pitchFamily="18" charset="0"/>
              </a:rPr>
              <a:t>Insure’s</a:t>
            </a:r>
            <a:r>
              <a:rPr lang="en-US" sz="2000" dirty="0">
                <a:latin typeface="Times New Roman" panose="02020603050405020304" pitchFamily="18" charset="0"/>
                <a:cs typeface="Times New Roman" panose="02020603050405020304" pitchFamily="18" charset="0"/>
              </a:rPr>
              <a:t> high claim volume.</a:t>
            </a:r>
          </a:p>
          <a:p>
            <a:r>
              <a:rPr lang="en-US" sz="2000" dirty="0">
                <a:latin typeface="Times New Roman" panose="02020603050405020304" pitchFamily="18" charset="0"/>
                <a:cs typeface="Times New Roman" panose="02020603050405020304" pitchFamily="18" charset="0"/>
              </a:rPr>
              <a:t>Efficiency Gains: Automating manual reviews cuts processing time, allowing adjusters to focus on complex cases.</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6054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27D7-6CE3-CB22-F731-1547465863C4}"/>
              </a:ext>
            </a:extLst>
          </p:cNvPr>
          <p:cNvSpPr>
            <a:spLocks noGrp="1"/>
          </p:cNvSpPr>
          <p:nvPr>
            <p:ph type="title"/>
          </p:nvPr>
        </p:nvSpPr>
        <p:spPr>
          <a:xfrm>
            <a:off x="581026" y="219456"/>
            <a:ext cx="10058400" cy="1371600"/>
          </a:xfrm>
        </p:spPr>
        <p:txBody>
          <a:bodyPr/>
          <a:lstStyle/>
          <a:p>
            <a:r>
              <a:rPr lang="en-IN" dirty="0"/>
              <a:t>Future Steps</a:t>
            </a:r>
          </a:p>
        </p:txBody>
      </p:sp>
      <p:sp>
        <p:nvSpPr>
          <p:cNvPr id="3" name="Content Placeholder 2">
            <a:extLst>
              <a:ext uri="{FF2B5EF4-FFF2-40B4-BE49-F238E27FC236}">
                <a16:creationId xmlns:a16="http://schemas.microsoft.com/office/drawing/2014/main" id="{E27BC04C-4DB3-D562-0088-9E4624990E56}"/>
              </a:ext>
            </a:extLst>
          </p:cNvPr>
          <p:cNvSpPr>
            <a:spLocks noGrp="1"/>
          </p:cNvSpPr>
          <p:nvPr>
            <p:ph idx="1"/>
          </p:nvPr>
        </p:nvSpPr>
        <p:spPr>
          <a:xfrm>
            <a:off x="342899" y="1428750"/>
            <a:ext cx="11268075" cy="4523994"/>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Threshold Optimization: </a:t>
            </a:r>
            <a:r>
              <a:rPr lang="en-US" sz="2000" dirty="0">
                <a:latin typeface="Times New Roman" panose="02020603050405020304" pitchFamily="18" charset="0"/>
                <a:cs typeface="Times New Roman" panose="02020603050405020304" pitchFamily="18" charset="0"/>
              </a:rPr>
              <a:t>Fine-tune classification thresholds to balance fraud capture (recall) and false alarms (precision) based on business priorities.</a:t>
            </a:r>
          </a:p>
          <a:p>
            <a:pPr marL="0" indent="0">
              <a:buNone/>
            </a:pPr>
            <a:r>
              <a:rPr lang="en-US" sz="2000" b="1" dirty="0">
                <a:latin typeface="Times New Roman" panose="02020603050405020304" pitchFamily="18" charset="0"/>
                <a:cs typeface="Times New Roman" panose="02020603050405020304" pitchFamily="18" charset="0"/>
              </a:rPr>
              <a:t>Real-Time Monitoring: </a:t>
            </a:r>
            <a:r>
              <a:rPr lang="en-US" sz="2000" dirty="0">
                <a:latin typeface="Times New Roman" panose="02020603050405020304" pitchFamily="18" charset="0"/>
                <a:cs typeface="Times New Roman" panose="02020603050405020304" pitchFamily="18" charset="0"/>
              </a:rPr>
              <a:t>Integrate</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model into claims processing for instant fraud scoring, enabling early intervention.</a:t>
            </a:r>
          </a:p>
          <a:p>
            <a:pPr marL="0" indent="0">
              <a:buNone/>
            </a:pPr>
            <a:r>
              <a:rPr lang="en-US" sz="2000" b="1" dirty="0">
                <a:latin typeface="Times New Roman" panose="02020603050405020304" pitchFamily="18" charset="0"/>
                <a:cs typeface="Times New Roman" panose="02020603050405020304" pitchFamily="18" charset="0"/>
              </a:rPr>
              <a:t>Advanced Feature Engineering: </a:t>
            </a:r>
            <a:r>
              <a:rPr lang="en-US" sz="2000" dirty="0">
                <a:latin typeface="Times New Roman" panose="02020603050405020304" pitchFamily="18" charset="0"/>
                <a:cs typeface="Times New Roman" panose="02020603050405020304" pitchFamily="18" charset="0"/>
              </a:rPr>
              <a:t>Add NLP for incident narratives and geospatial analysis to uncover hidden fraud patterns.</a:t>
            </a:r>
          </a:p>
          <a:p>
            <a:pPr marL="0" indent="0">
              <a:buNone/>
            </a:pPr>
            <a:r>
              <a:rPr lang="en-US" sz="2000" b="1" dirty="0">
                <a:latin typeface="Times New Roman" panose="02020603050405020304" pitchFamily="18" charset="0"/>
                <a:cs typeface="Times New Roman" panose="02020603050405020304" pitchFamily="18" charset="0"/>
              </a:rPr>
              <a:t>Periodic Model Retraining: </a:t>
            </a:r>
            <a:r>
              <a:rPr lang="en-US" sz="2000" dirty="0">
                <a:latin typeface="Times New Roman" panose="02020603050405020304" pitchFamily="18" charset="0"/>
                <a:cs typeface="Times New Roman" panose="02020603050405020304" pitchFamily="18" charset="0"/>
              </a:rPr>
              <a:t>Update models quarterly with new fraud trends to maintain accuracy over time.</a:t>
            </a:r>
          </a:p>
          <a:p>
            <a:pPr marL="0" indent="0">
              <a:buNone/>
            </a:pPr>
            <a:r>
              <a:rPr lang="en-US" sz="2000" b="1" dirty="0">
                <a:latin typeface="Times New Roman" panose="02020603050405020304" pitchFamily="18" charset="0"/>
                <a:cs typeface="Times New Roman" panose="02020603050405020304" pitchFamily="18" charset="0"/>
              </a:rPr>
              <a:t>Stakeholder Feedback Loop: </a:t>
            </a:r>
            <a:r>
              <a:rPr lang="en-US" sz="2000" dirty="0">
                <a:latin typeface="Times New Roman" panose="02020603050405020304" pitchFamily="18" charset="0"/>
                <a:cs typeface="Times New Roman" panose="02020603050405020304" pitchFamily="18" charset="0"/>
              </a:rPr>
              <a:t>Collaborate with claims adjusters to validate flagged cases and refine model logic iteratively.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8073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6EA65-0F26-840B-A378-E08F3C7938BE}"/>
              </a:ext>
            </a:extLst>
          </p:cNvPr>
          <p:cNvSpPr>
            <a:spLocks noGrp="1"/>
          </p:cNvSpPr>
          <p:nvPr>
            <p:ph type="title"/>
          </p:nvPr>
        </p:nvSpPr>
        <p:spPr/>
        <p:txBody>
          <a:bodyPr/>
          <a:lstStyle/>
          <a:p>
            <a:r>
              <a:rPr lang="en-IN" dirty="0"/>
              <a:t>GitHub Link</a:t>
            </a:r>
          </a:p>
        </p:txBody>
      </p:sp>
      <p:sp>
        <p:nvSpPr>
          <p:cNvPr id="3" name="Content Placeholder 2">
            <a:extLst>
              <a:ext uri="{FF2B5EF4-FFF2-40B4-BE49-F238E27FC236}">
                <a16:creationId xmlns:a16="http://schemas.microsoft.com/office/drawing/2014/main" id="{EE0A3871-0E2D-9ADC-BA1C-FEC2921E6B53}"/>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784555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A1C5FA-F751-9991-D3F3-A56AD012C8B2}"/>
              </a:ext>
            </a:extLst>
          </p:cNvPr>
          <p:cNvPicPr>
            <a:picLocks noChangeAspect="1"/>
          </p:cNvPicPr>
          <p:nvPr/>
        </p:nvPicPr>
        <p:blipFill>
          <a:blip r:embed="rId2"/>
          <a:stretch>
            <a:fillRect/>
          </a:stretch>
        </p:blipFill>
        <p:spPr>
          <a:xfrm>
            <a:off x="0" y="0"/>
            <a:ext cx="12192000" cy="6991350"/>
          </a:xfrm>
          <a:prstGeom prst="rect">
            <a:avLst/>
          </a:prstGeom>
        </p:spPr>
      </p:pic>
    </p:spTree>
    <p:extLst>
      <p:ext uri="{BB962C8B-B14F-4D97-AF65-F5344CB8AC3E}">
        <p14:creationId xmlns:p14="http://schemas.microsoft.com/office/powerpoint/2010/main" val="716840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Sagona Extra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Sagona Book"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Override1.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AE2713E1-6312-427E-BFCB-C5A5DA301373}">
  <ds:schemaRefs>
    <ds:schemaRef ds:uri="http://schemas.microsoft.com/sharepoint/v3/contenttype/forms"/>
  </ds:schemaRefs>
</ds:datastoreItem>
</file>

<file path=customXml/itemProps2.xml><?xml version="1.0" encoding="utf-8"?>
<ds:datastoreItem xmlns:ds="http://schemas.openxmlformats.org/officeDocument/2006/customXml" ds:itemID="{50DB95DD-0319-4EE5-8C5C-9CEDF75E02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2F3B215-496E-4790-A364-7C1C46DEC771}">
  <ds:schemaRefs>
    <ds:schemaRef ds:uri="http://schemas.microsoft.com/office/2006/documentManagement/types"/>
    <ds:schemaRef ds:uri="http://schemas.microsoft.com/office/infopath/2007/PartnerControls"/>
    <ds:schemaRef ds:uri="http://schemas.microsoft.com/office/2006/metadata/properties"/>
    <ds:schemaRef ds:uri="http://purl.org/dc/terms/"/>
    <ds:schemaRef ds:uri="http://purl.org/dc/elements/1.1/"/>
    <ds:schemaRef ds:uri="http://purl.org/dc/dcmitype/"/>
    <ds:schemaRef ds:uri="http://www.w3.org/XML/1998/namespace"/>
    <ds:schemaRef ds:uri="http://schemas.openxmlformats.org/package/2006/metadata/core-properties"/>
    <ds:schemaRef ds:uri="16c05727-aa75-4e4a-9b5f-8a80a1165891"/>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{82E99B03-8326-4E16-8F92-565930BC52B0}tf78829772_win32</Template>
  <TotalTime>229</TotalTime>
  <Words>1600</Words>
  <Application>Microsoft Office PowerPoint</Application>
  <PresentationFormat>Widescreen</PresentationFormat>
  <Paragraphs>106</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Garamond</vt:lpstr>
      <vt:lpstr>Sagona Book</vt:lpstr>
      <vt:lpstr>Sagona ExtraLight</vt:lpstr>
      <vt:lpstr>Times New Roman</vt:lpstr>
      <vt:lpstr>SavonVTI</vt:lpstr>
      <vt:lpstr>Fraudulent Claim Detection</vt:lpstr>
      <vt:lpstr>Problem Statement</vt:lpstr>
      <vt:lpstr>Business Objective</vt:lpstr>
      <vt:lpstr>Features of the Dataset</vt:lpstr>
      <vt:lpstr>Data Cleaning and Preprocessing</vt:lpstr>
      <vt:lpstr>Changing dtypes and Dropping columns with Unique Values:</vt:lpstr>
      <vt:lpstr>.</vt:lpstr>
      <vt:lpstr>Imputation of Missing Values</vt:lpstr>
      <vt:lpstr>Label Encoding of Categorical Features</vt:lpstr>
      <vt:lpstr>Exploratory Data Analysis</vt:lpstr>
      <vt:lpstr>.</vt:lpstr>
      <vt:lpstr>Number Of Witnesses gives some information</vt:lpstr>
      <vt:lpstr>Fraud Report</vt:lpstr>
      <vt:lpstr>Random Forest Confusion Matrix :</vt:lpstr>
      <vt:lpstr>Feature Selection</vt:lpstr>
      <vt:lpstr>Correlation Amongst Numerical Features:</vt:lpstr>
      <vt:lpstr>Models and Approaches</vt:lpstr>
      <vt:lpstr>.</vt:lpstr>
      <vt:lpstr> Conclusion:</vt:lpstr>
      <vt:lpstr>.</vt:lpstr>
      <vt:lpstr>Insights and Business Decisions:</vt:lpstr>
      <vt:lpstr>.</vt:lpstr>
      <vt:lpstr>Future Steps</vt:lpstr>
      <vt:lpstr>GitHub Link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SHAMILY JENNYMOOR</dc:creator>
  <cp:lastModifiedBy>SHAMILY JENNYMOOR</cp:lastModifiedBy>
  <cp:revision>2</cp:revision>
  <dcterms:created xsi:type="dcterms:W3CDTF">2025-04-30T05:58:10Z</dcterms:created>
  <dcterms:modified xsi:type="dcterms:W3CDTF">2025-04-30T11:43:59Z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